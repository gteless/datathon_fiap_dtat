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alibri Light" panose="020F0302020204030204" pitchFamily="34" charset="0"/>
      <p:regular r:id="rId17"/>
      <p:italic r:id="rId18"/>
    </p:embeddedFont>
    <p:embeddedFont>
      <p:font typeface="Inter" panose="020B0604020202020204" charset="0"/>
      <p:regular r:id="rId19"/>
    </p:embeddedFont>
    <p:embeddedFont>
      <p:font typeface="Manrope" panose="020B0604020202020204" charset="0"/>
      <p:regular r:id="rId20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0481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6613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B994DE-A67A-4EE6-A4E8-5FB69C2814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50EEC0F-6C6A-4513-89CA-397403CBBF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5BBF8D2-02F8-4BC6-8986-FFED31E81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2F6C-A77D-4FC9-90CF-72DE430A71ED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67566B-D787-4881-B510-6F4D6DA16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5DEFA2-BAB7-44A6-BBE3-4A13FAC7C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7290D-FF34-4384-8CBC-744721FF1C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360694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0151B6-9D10-4ACA-B088-9677F3BFE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82D689-DFA8-4E90-BED5-0D9F84E39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8B1A1E-DD40-4C20-B9ED-DE635C654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2F6C-A77D-4FC9-90CF-72DE430A71ED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061CB74-9E27-4125-BF57-765166480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37B64A-2F7C-46B6-B62E-C59DE6BFA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7290D-FF34-4384-8CBC-744721FF1C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122819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E9663C-5403-4179-A4B9-B4876EA63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36916F1-23FA-4769-929F-99EB0B386B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FE55895-7413-4093-B305-A287E6CAA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2F6C-A77D-4FC9-90CF-72DE430A71ED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FD7C4D-CDF1-44A0-940E-D88FCE6E7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B025E2E-8384-4BF0-8919-630DA0B06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7290D-FF34-4384-8CBC-744721FF1C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39741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FDD068-2558-4229-9CB7-BF6504EAA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9E6F225-49A1-4201-84F8-7EB2B4F9C8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3E36F22-6E9C-4BB9-82BB-DB1DC314CD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C032703-290C-49F3-B24D-16C731BBA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2F6C-A77D-4FC9-90CF-72DE430A71ED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051A46-9B49-470F-ABBC-120E77705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8CE2F86-2AA0-4E2C-8266-E1F19B803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7290D-FF34-4384-8CBC-744721FF1C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957739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4C97AB-CC73-413F-B4E4-65F46A5DB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501ECC-D283-4820-BA46-B3071261A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7F152A6-F101-467B-96DE-913AF49DD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EE24912-5265-442E-A350-444E8ED822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2D6AB2F-2FEE-434C-97CB-6FF789ABA1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E376B77-7035-45DD-950B-A631F9B91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2F6C-A77D-4FC9-90CF-72DE430A71ED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4684CCB-59A2-431A-A17D-76F9BCA65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9EFB222-FC75-4F52-B09E-5D1A1A8BC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7290D-FF34-4384-8CBC-744721FF1C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964118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DEBDA0-3006-483A-A93E-D70AE09A7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0E7DEC8-F0BF-4864-906E-BF3A296A8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2F6C-A77D-4FC9-90CF-72DE430A71ED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AD17A8E-3988-45E4-9A0D-A509684D9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0E86DBE-8D80-4319-9988-23B5B8D2F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7290D-FF34-4384-8CBC-744721FF1C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045342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1F94FD6-DA12-45E8-93B7-0F8CD0F98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2F6C-A77D-4FC9-90CF-72DE430A71ED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4465CD2-6375-4FA8-A576-6238D1B66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FCF8E6E-8250-4601-8C00-5704FB608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7290D-FF34-4384-8CBC-744721FF1C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031564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47E1F8-B889-4A26-8775-ED62D3808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2C521E-BB46-47B8-AF93-5DC6B9814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8C8AD70-B011-47D8-A597-32699BAB6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5616086-918D-41AF-AC43-F59B56B11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2F6C-A77D-4FC9-90CF-72DE430A71ED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0D709EB-DE33-4FBF-B077-4F4849CD4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889178E-63AA-45FD-86B4-FCDDEFB02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7290D-FF34-4384-8CBC-744721FF1C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999420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69134C-601E-4059-B7E9-93F322875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546B65B-90B3-43A2-8B3C-31E936CBA8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2C569D-F1A8-40AF-B54B-3CE10EBEE9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12F57BA-81EB-497F-A820-C8A3DFF32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2F6C-A77D-4FC9-90CF-72DE430A71ED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16DE9AB-28EA-4542-B4EB-720172982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7CB6627-4C7E-410F-9D17-497991B87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7290D-FF34-4384-8CBC-744721FF1C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189783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F5FC28-93B3-48F6-A886-B8D566420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0FD2D8F-2DEC-4C48-A40D-802A579D8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F532454-5E5A-4B3F-8778-7D38A3CC2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2F6C-A77D-4FC9-90CF-72DE430A71ED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410AD0C-1EED-4AC2-94CE-2D85E5238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F6E3D4F-21C7-4AB2-B6B8-95E36130F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7290D-FF34-4384-8CBC-744721FF1C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519342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2B0FD60-29D0-426A-B301-29AA618BAA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7F546AB-51BD-487A-93DB-947480BE5D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3A24230-E712-451D-9BE7-CCAB3ADCE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2F6C-A77D-4FC9-90CF-72DE430A71ED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F428EE9-8FD7-4781-B391-81E4CF412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005E52-89FD-470C-9356-1E1C109C9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7290D-FF34-4384-8CBC-744721FF1C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580725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80544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82695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43298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9713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18143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12223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44722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35560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117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AA4CB1A-6969-4EAB-B2C3-7195727FD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FA2B5A9-514D-48DB-875C-F15568D0F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DA0D0C-6C8A-4251-BBC6-3273DB206F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D32F6C-A77D-4FC9-90CF-72DE430A71ED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6F3401A-0E14-4289-AAD1-6441F1F05B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8E9E8A-341B-4AD5-81A8-43699A6638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87290D-FF34-4384-8CBC-744721FF1C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4731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.pn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.pn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bg>
      <p:bgPr>
        <a:pattFill prst="pct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1119902"/>
            <a:ext cx="694574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Datathon Passos Mágicos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168843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Análise de Negócios e Modelo Preditivo de Risco Educacional (Ciclo 2022 – 2024)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793790" y="3985121"/>
            <a:ext cx="7556421" cy="1724799"/>
          </a:xfrm>
          <a:prstGeom prst="roundRect">
            <a:avLst>
              <a:gd name="adj" fmla="val 15440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7104" y="42337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 err="1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Equipe</a:t>
            </a: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957104" y="4724202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Aline </a:t>
            </a:r>
            <a:r>
              <a:rPr lang="en-US" sz="1750" dirty="0" err="1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Korb</a:t>
            </a: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Elton Almeida, Gabriel Manzini, Gabriel Teles e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Thiago </a:t>
            </a:r>
            <a:r>
              <a:rPr lang="en-US" sz="1750" dirty="0" err="1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Temporim</a:t>
            </a:r>
            <a:endParaRPr lang="en-US" sz="1750" dirty="0">
              <a:solidFill>
                <a:srgbClr val="55575A"/>
              </a:solidFill>
              <a:latin typeface="Manrope" pitchFamily="34" charset="0"/>
              <a:ea typeface="Manrope" pitchFamily="34" charset="-122"/>
              <a:cs typeface="Manrope" pitchFamily="34" charset="-120"/>
            </a:endParaRP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625F6C06-BADA-493F-9AE9-D70B2DBC56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5174" y="1147924"/>
            <a:ext cx="3411436" cy="1361514"/>
          </a:xfrm>
          <a:prstGeom prst="rect">
            <a:avLst/>
          </a:prstGeom>
        </p:spPr>
      </p:pic>
      <p:pic>
        <p:nvPicPr>
          <p:cNvPr id="15" name="Imagem 14" descr="Vestibular 2025 - Ficha de Inscrição - FIAP">
            <a:extLst>
              <a:ext uri="{FF2B5EF4-FFF2-40B4-BE49-F238E27FC236}">
                <a16:creationId xmlns:a16="http://schemas.microsoft.com/office/drawing/2014/main" id="{A5F2070D-32AF-478B-90D2-914909A2E163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3490" y="157580"/>
            <a:ext cx="1286239" cy="389478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bg>
      <p:bgPr>
        <a:pattFill prst="pct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89" y="1384875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Contexto e problema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93789" y="2703955"/>
            <a:ext cx="13685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Missão da ONG: promover aprendizagem equitativa e reduzir defasagem escolar. Desafio analítico: transformar indicadores multidimensionais em decisões preventivas. Período analisado: 2022–2024.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3395306" y="5209759"/>
            <a:ext cx="60960" cy="1640086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6" name="Text 3"/>
          <p:cNvSpPr/>
          <p:nvPr/>
        </p:nvSpPr>
        <p:spPr>
          <a:xfrm>
            <a:off x="3713560" y="52402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Problema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713560" y="5730658"/>
            <a:ext cx="334863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Risco crescente de defasagem não detectada precocemente.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315200" y="5209759"/>
            <a:ext cx="60960" cy="1640086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9" name="Text 6"/>
          <p:cNvSpPr/>
          <p:nvPr/>
        </p:nvSpPr>
        <p:spPr>
          <a:xfrm>
            <a:off x="7633454" y="52402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Impacto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633454" y="5730658"/>
            <a:ext cx="334875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Perda de aprendizagem, evasão e necessidades de intervenção tardia.</a:t>
            </a:r>
            <a:endParaRPr lang="en-US" sz="1750" dirty="0"/>
          </a:p>
        </p:txBody>
      </p:sp>
      <p:pic>
        <p:nvPicPr>
          <p:cNvPr id="11" name="Imagem 10" descr="Vestibular 2025 - Ficha de Inscrição - FIAP">
            <a:extLst>
              <a:ext uri="{FF2B5EF4-FFF2-40B4-BE49-F238E27FC236}">
                <a16:creationId xmlns:a16="http://schemas.microsoft.com/office/drawing/2014/main" id="{27B9DA5B-6B4B-445C-9FD8-FE8838BAC12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3490" y="157580"/>
            <a:ext cx="1286239" cy="389478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bg>
      <p:bgPr>
        <a:pattFill prst="pct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31230" y="1357312"/>
            <a:ext cx="634472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de dados e metodologia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31230" y="2395384"/>
            <a:ext cx="13848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Abas analisadas: PEDE2022, PEDE2023, PEDE2024. Pipeline: ingestão → limpeza → padronização → </a:t>
            </a:r>
            <a:r>
              <a:rPr lang="en-US" sz="1750" dirty="0" err="1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análise</a:t>
            </a: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exploratória → engenharia de features → modelagem ML → app de visualização.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3166348" y="4316968"/>
            <a:ext cx="3664744" cy="3341013"/>
          </a:xfrm>
          <a:prstGeom prst="roundRect">
            <a:avLst>
              <a:gd name="adj" fmla="val 6110"/>
            </a:avLst>
          </a:prstGeom>
          <a:solidFill>
            <a:srgbClr val="FFFFFF"/>
          </a:solidFill>
          <a:ln w="30480">
            <a:solidFill>
              <a:srgbClr val="FF704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423642" y="45742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Etapas técnicas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423642" y="5064680"/>
            <a:ext cx="3150156" cy="2336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Ingestão: validação e versionamento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Limpeza: tratamento de faltantes, normalização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Padronização: dicionário unificado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057906" y="4316968"/>
            <a:ext cx="3664863" cy="3341013"/>
          </a:xfrm>
          <a:prstGeom prst="roundRect">
            <a:avLst>
              <a:gd name="adj" fmla="val 6110"/>
            </a:avLst>
          </a:prstGeom>
          <a:solidFill>
            <a:srgbClr val="FFFFFF"/>
          </a:solidFill>
          <a:ln w="30480">
            <a:solidFill>
              <a:srgbClr val="FF704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0" y="4574262"/>
            <a:ext cx="315027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Observações de qualidade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315200" y="5419010"/>
            <a:ext cx="315027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Valores faltantes em quesitos psicossociais; colunas heterogêneas entre anos; necessidade de imputação e checagem de consistência.</a:t>
            </a:r>
            <a:endParaRPr lang="en-US" sz="1750" dirty="0"/>
          </a:p>
        </p:txBody>
      </p:sp>
      <p:pic>
        <p:nvPicPr>
          <p:cNvPr id="11" name="Imagem 10" descr="Vestibular 2025 - Ficha de Inscrição - FIAP">
            <a:extLst>
              <a:ext uri="{FF2B5EF4-FFF2-40B4-BE49-F238E27FC236}">
                <a16:creationId xmlns:a16="http://schemas.microsoft.com/office/drawing/2014/main" id="{0E20556B-9A7D-4910-B361-7A81775E836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3490" y="157580"/>
            <a:ext cx="1286239" cy="389478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bg>
      <p:bgPr>
        <a:pattFill prst="pct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898410" y="2026222"/>
            <a:ext cx="7463632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Q1 - IAN (Índice de Atraso Nacional) / Defasagem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898410" y="3386987"/>
            <a:ext cx="746363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Perfil de defasagem por ano com categorização: moderada e severa. Analisamos evolução temporal para priorizar monitoramento e intervenções.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1040369" y="5455476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25439" y="549798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1777485" y="55333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2022 → 2024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777485" y="6023762"/>
            <a:ext cx="564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Aumento de casos severos em áreas com maior vulnerabilidade socioeconômica.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703463" y="5455476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88534" y="549798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8"/>
          <p:cNvSpPr/>
          <p:nvPr/>
        </p:nvSpPr>
        <p:spPr>
          <a:xfrm>
            <a:off x="8440579" y="55333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 acionável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440579" y="6023762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Priorizar acompanhamento semanal para alunos com IAN crescente e histórico de faltas.</a:t>
            </a:r>
            <a:endParaRPr lang="en-US" sz="1750" dirty="0"/>
          </a:p>
        </p:txBody>
      </p:sp>
      <p:pic>
        <p:nvPicPr>
          <p:cNvPr id="13" name="Imagem 12" descr="Vestibular 2025 - Ficha de Inscrição - FIAP">
            <a:extLst>
              <a:ext uri="{FF2B5EF4-FFF2-40B4-BE49-F238E27FC236}">
                <a16:creationId xmlns:a16="http://schemas.microsoft.com/office/drawing/2014/main" id="{E21BA2A6-828F-49E2-AAF7-913DD93AE1A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3490" y="157580"/>
            <a:ext cx="1286239" cy="389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69ACB5FF-98BB-4E6C-97E9-693083B82B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918" y="1625599"/>
            <a:ext cx="6155747" cy="30691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bg>
      <p:bgPr>
        <a:pattFill prst="pct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638943" y="1337905"/>
            <a:ext cx="4205168" cy="1700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Q2 + Q10 - IDA e efetividade por fase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9638943" y="3265646"/>
            <a:ext cx="420516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IDA (Índice de Desenvolvimento Acadêmico): tendência de variação entre 2022–2024. Comparação por fase (Quartzo, Ágata, Ametista, Topázio) quando disponível.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786289" y="59787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Trend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786289" y="6469141"/>
            <a:ext cx="46926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Sinais de melhora em fases com intervenção pedagógica intensiva; estagnação onde houve quebra de sequência escolar.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7449384" y="5978723"/>
            <a:ext cx="290393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Comparação por fase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7449384" y="6469141"/>
            <a:ext cx="469272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Quartzo e Ágata mostram recuperação mais rápida; Ametista precisa de foco em estratégias socioemocionais.</a:t>
            </a:r>
            <a:endParaRPr lang="en-US" sz="1750" dirty="0"/>
          </a:p>
        </p:txBody>
      </p:sp>
      <p:pic>
        <p:nvPicPr>
          <p:cNvPr id="11" name="Imagem 10" descr="Vestibular 2025 - Ficha de Inscrição - FIAP">
            <a:extLst>
              <a:ext uri="{FF2B5EF4-FFF2-40B4-BE49-F238E27FC236}">
                <a16:creationId xmlns:a16="http://schemas.microsoft.com/office/drawing/2014/main" id="{E4CAFA5C-85E0-4DFD-9D1D-AE0BF5EA23C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3490" y="157580"/>
            <a:ext cx="1286239" cy="389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FF849C84-BEDD-4418-86ED-0359047AEA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289" y="531024"/>
            <a:ext cx="8058150" cy="49244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bg>
      <p:bgPr>
        <a:pattFill prst="pct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990600"/>
            <a:ext cx="7405330" cy="481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 + Q4 – </a:t>
            </a:r>
            <a:r>
              <a:rPr lang="en-US" sz="3000" dirty="0" err="1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Correlação</a:t>
            </a:r>
            <a:r>
              <a:rPr lang="en-US" sz="30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IEG, IPV, IDA e IAA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793790" y="1718310"/>
            <a:ext cx="7556421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Analisamos relações entre IEG (Índice de Engajamento) e IDA/IPV; avaliamos coerência do IAA (Autoavaliação) versus desempenho real.</a:t>
            </a:r>
            <a:endParaRPr lang="en-US" sz="15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473166"/>
            <a:ext cx="385524" cy="38552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93790" y="3063478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IEG x IDA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793790" y="3462933"/>
            <a:ext cx="755642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Correlação positiva moderada: maior engajamento tende a reduzir defasagem.</a:t>
            </a:r>
            <a:endParaRPr lang="en-US" sz="15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790" y="4075867"/>
            <a:ext cx="385524" cy="38552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93790" y="4666178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IEG x IPV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793790" y="5065632"/>
            <a:ext cx="7556421" cy="1365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Alto IEG </a:t>
            </a:r>
            <a:r>
              <a:rPr lang="en-US" sz="1500" dirty="0" err="1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apresenta</a:t>
            </a: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r>
              <a:rPr lang="en-US" sz="1500" dirty="0" err="1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correlação</a:t>
            </a: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r>
              <a:rPr lang="en-US" sz="1500" dirty="0" err="1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positiva</a:t>
            </a: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r>
              <a:rPr lang="en-US" sz="1500" dirty="0" err="1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moderada</a:t>
            </a: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r>
              <a:rPr lang="en-US" sz="1500" dirty="0" err="1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em</a:t>
            </a: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IPV (</a:t>
            </a:r>
            <a:r>
              <a:rPr lang="en-US" sz="1500" dirty="0" err="1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percepção</a:t>
            </a: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).</a:t>
            </a:r>
            <a:endParaRPr lang="en-US" sz="1500" dirty="0"/>
          </a:p>
        </p:txBody>
      </p:sp>
      <p:pic>
        <p:nvPicPr>
          <p:cNvPr id="14" name="Imagem 13" descr="Vestibular 2025 - Ficha de Inscrição - FIAP">
            <a:extLst>
              <a:ext uri="{FF2B5EF4-FFF2-40B4-BE49-F238E27FC236}">
                <a16:creationId xmlns:a16="http://schemas.microsoft.com/office/drawing/2014/main" id="{189BA3F2-A2DA-4213-B132-E0C8B7D96375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3490" y="157580"/>
            <a:ext cx="1286239" cy="389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FED40479-4B62-4C1C-8C2B-1524DA2A2C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6455" y="988973"/>
            <a:ext cx="5400077" cy="34251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A56EBE61-B4DB-4379-BF14-E52535A033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6454" y="4614684"/>
            <a:ext cx="5400077" cy="34251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990600"/>
            <a:ext cx="4432816" cy="481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 + Q4 – </a:t>
            </a:r>
            <a:r>
              <a:rPr lang="en-US" sz="3000" dirty="0" err="1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Correlação</a:t>
            </a:r>
            <a:r>
              <a:rPr lang="en-US" sz="30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IEG, IPV, IDA e IAA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793790" y="1714688"/>
            <a:ext cx="7556421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 err="1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Avaliamos</a:t>
            </a: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coerência do IAA (Autoavaliação) versus desempenho real.</a:t>
            </a:r>
            <a:endParaRPr lang="en-US" sz="15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701548"/>
            <a:ext cx="385524" cy="38552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93790" y="3349148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IAA vs desempenho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793790" y="3748602"/>
            <a:ext cx="7556421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Casos com desalinhamento: IAA elevada, desempenho baixo — sinal de autopercepção inflada ou vieses de resposta.</a:t>
            </a:r>
            <a:endParaRPr lang="en-US" sz="1500" dirty="0"/>
          </a:p>
        </p:txBody>
      </p:sp>
      <p:pic>
        <p:nvPicPr>
          <p:cNvPr id="14" name="Imagem 13" descr="Vestibular 2025 - Ficha de Inscrição - FIAP">
            <a:extLst>
              <a:ext uri="{FF2B5EF4-FFF2-40B4-BE49-F238E27FC236}">
                <a16:creationId xmlns:a16="http://schemas.microsoft.com/office/drawing/2014/main" id="{189BA3F2-A2DA-4213-B132-E0C8B7D96375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3490" y="157580"/>
            <a:ext cx="1286239" cy="389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8AD2D03A-BA45-4B59-9C35-0F346D3D9D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5986" y="1523721"/>
            <a:ext cx="6423743" cy="40744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909301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bg>
      <p:bgPr>
        <a:pattFill prst="pct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620964" y="1806416"/>
            <a:ext cx="4223147" cy="1616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Q5 + Q6 - IPS e IPP (psicossocial e psicopedagógico)</a:t>
            </a:r>
            <a:endParaRPr lang="en-US" sz="3350" dirty="0"/>
          </a:p>
        </p:txBody>
      </p:sp>
      <p:sp>
        <p:nvSpPr>
          <p:cNvPr id="4" name="Text 1"/>
          <p:cNvSpPr/>
          <p:nvPr/>
        </p:nvSpPr>
        <p:spPr>
          <a:xfrm>
            <a:off x="9620964" y="3627358"/>
            <a:ext cx="4223147" cy="100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Identificação de padrões psicossociais e psicopedagógicos e sua concordância com defasagem (IAN).</a:t>
            </a:r>
            <a:endParaRPr lang="en-US" sz="1650" dirty="0"/>
          </a:p>
        </p:txBody>
      </p:sp>
      <p:sp>
        <p:nvSpPr>
          <p:cNvPr id="5" name="Shape 2"/>
          <p:cNvSpPr/>
          <p:nvPr/>
        </p:nvSpPr>
        <p:spPr>
          <a:xfrm>
            <a:off x="793790" y="5870138"/>
            <a:ext cx="6419017" cy="1577578"/>
          </a:xfrm>
          <a:prstGeom prst="roundRect">
            <a:avLst>
              <a:gd name="adj" fmla="val 12293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16794" y="6093142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Padrões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016794" y="6552486"/>
            <a:ext cx="5973008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Indicadores de vulnerabilidade social correlacionam com IPS elevado e riscos acadêmicos.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7417475" y="5870138"/>
            <a:ext cx="6419136" cy="1577578"/>
          </a:xfrm>
          <a:prstGeom prst="roundRect">
            <a:avLst>
              <a:gd name="adj" fmla="val 12293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40479" y="6093142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Intervenções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7640479" y="6552486"/>
            <a:ext cx="5973128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Oportunidades para intervenções multidisciplinares: psicologia + tutoria pedagógica + envolvimento familiar.</a:t>
            </a:r>
            <a:endParaRPr lang="en-US" sz="1650" dirty="0"/>
          </a:p>
        </p:txBody>
      </p:sp>
      <p:pic>
        <p:nvPicPr>
          <p:cNvPr id="11" name="Imagem 10" descr="Vestibular 2025 - Ficha de Inscrição - FIAP">
            <a:extLst>
              <a:ext uri="{FF2B5EF4-FFF2-40B4-BE49-F238E27FC236}">
                <a16:creationId xmlns:a16="http://schemas.microsoft.com/office/drawing/2014/main" id="{A4CE3874-6480-4E15-93C1-4566855053D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3490" y="157580"/>
            <a:ext cx="1286239" cy="389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363B0A38-3F7B-4723-9C5C-7FB2DBAB76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227" y="547058"/>
            <a:ext cx="7058025" cy="4476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bg>
      <p:bgPr>
        <a:pattFill prst="pct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990600"/>
            <a:ext cx="713922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Q7 + Q8 - Drivers do IPV e INDE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280190" y="189773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Construímos matriz de correlação para identificar combinações que mais elevam INDE (Índice de Desempenho Escolar).</a:t>
            </a:r>
            <a:endParaRPr lang="en-US" sz="17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0190" y="2878693"/>
            <a:ext cx="453628" cy="4536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80190" y="36158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Matriz de correlação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6280190" y="410622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Principais correlações: frequência + engajamento → IPV; condições familiares → INDE.</a:t>
            </a:r>
            <a:endParaRPr lang="en-US" sz="17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0190" y="5285661"/>
            <a:ext cx="453628" cy="45362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280190" y="60227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Fatores-chave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6280190" y="6513195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Priorizar fatores com maior impacto: frequência escolar, horas de estudo, suporte familiar e atendimento psicossocial.</a:t>
            </a:r>
            <a:endParaRPr lang="en-US" sz="1750" dirty="0"/>
          </a:p>
        </p:txBody>
      </p:sp>
      <p:pic>
        <p:nvPicPr>
          <p:cNvPr id="11" name="Imagem 10" descr="Vestibular 2025 - Ficha de Inscrição - FIAP">
            <a:extLst>
              <a:ext uri="{FF2B5EF4-FFF2-40B4-BE49-F238E27FC236}">
                <a16:creationId xmlns:a16="http://schemas.microsoft.com/office/drawing/2014/main" id="{4C23AD6B-16B4-40C4-AC2F-0F69C8EB10F2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3490" y="157580"/>
            <a:ext cx="1286239" cy="389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8FF7E8B9-7823-453A-B0F8-7F66BDB58C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991" y="1693247"/>
            <a:ext cx="5309478" cy="484310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bg>
      <p:bgPr>
        <a:pattFill prst="pct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602867" y="1960840"/>
            <a:ext cx="4241244" cy="102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Q9 - Modelo </a:t>
            </a:r>
            <a:r>
              <a:rPr lang="en-US" sz="3200" dirty="0" err="1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preditivo</a:t>
            </a:r>
            <a:r>
              <a:rPr lang="en-US" sz="32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</a:t>
            </a:r>
            <a:r>
              <a:rPr lang="en-US" sz="3200" dirty="0" err="1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risco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9602867" y="3165158"/>
            <a:ext cx="4241244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Target: preferência por prever piora futura (ex.: aumento de IAN). Pipeline de modelagem e resultados.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93790" y="5518071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93790" y="5842040"/>
            <a:ext cx="4225052" cy="22860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7" name="Text 4"/>
          <p:cNvSpPr/>
          <p:nvPr/>
        </p:nvSpPr>
        <p:spPr>
          <a:xfrm>
            <a:off x="793790" y="5989796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engineering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93790" y="6418778"/>
            <a:ext cx="4225052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Construção de lags temporais, agregados por escola, indicadores psicossociais normalizados.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202555" y="5518071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202555" y="5842040"/>
            <a:ext cx="4225171" cy="22860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11" name="Text 8"/>
          <p:cNvSpPr/>
          <p:nvPr/>
        </p:nvSpPr>
        <p:spPr>
          <a:xfrm>
            <a:off x="5202555" y="5989796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Split treino/teste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202555" y="6418778"/>
            <a:ext cx="4225171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Divisão temporal quando possível (treino até 2023, teste 2024) para evitar vazamento.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611439" y="5518071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9611439" y="5842040"/>
            <a:ext cx="4225171" cy="22860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15" name="Text 12"/>
          <p:cNvSpPr/>
          <p:nvPr/>
        </p:nvSpPr>
        <p:spPr>
          <a:xfrm>
            <a:off x="9611439" y="5989796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Métricas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9611439" y="6418778"/>
            <a:ext cx="4225171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ROC-AUC e AP usadas para avaliar separação e performance em classes </a:t>
            </a:r>
            <a:r>
              <a:rPr lang="en-US" sz="1600" dirty="0" err="1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raras</a:t>
            </a: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;</a:t>
            </a:r>
            <a:endParaRPr lang="en-US" sz="1600" dirty="0"/>
          </a:p>
        </p:txBody>
      </p:sp>
      <p:pic>
        <p:nvPicPr>
          <p:cNvPr id="17" name="Imagem 16" descr="Vestibular 2025 - Ficha de Inscrição - FIAP">
            <a:extLst>
              <a:ext uri="{FF2B5EF4-FFF2-40B4-BE49-F238E27FC236}">
                <a16:creationId xmlns:a16="http://schemas.microsoft.com/office/drawing/2014/main" id="{B82D3575-0532-456A-9BA9-117A814C168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3490" y="157580"/>
            <a:ext cx="1286239" cy="389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019278DF-CEFB-42D6-BFD0-AB7F5C9CEC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289" y="1675182"/>
            <a:ext cx="8052255" cy="2790248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</TotalTime>
  <Words>613</Words>
  <Application>Microsoft Office PowerPoint</Application>
  <PresentationFormat>Personalizar</PresentationFormat>
  <Paragraphs>76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7" baseType="lpstr">
      <vt:lpstr>Manrope</vt:lpstr>
      <vt:lpstr>Arial</vt:lpstr>
      <vt:lpstr>Inter</vt:lpstr>
      <vt:lpstr>Calibri</vt:lpstr>
      <vt:lpstr>Calibri Light</vt:lpstr>
      <vt:lpstr>Inter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Gabriel Teles</dc:creator>
  <cp:lastModifiedBy>Gabriel Teles</cp:lastModifiedBy>
  <cp:revision>12</cp:revision>
  <cp:lastPrinted>2026-03-09T23:37:54Z</cp:lastPrinted>
  <dcterms:created xsi:type="dcterms:W3CDTF">2026-03-03T00:39:03Z</dcterms:created>
  <dcterms:modified xsi:type="dcterms:W3CDTF">2026-03-10T00:38:31Z</dcterms:modified>
</cp:coreProperties>
</file>